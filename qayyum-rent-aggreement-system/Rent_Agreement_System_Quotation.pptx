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37160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92024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PROJECT PROPOSAL &amp; QUOTATION</a:t>
            </a:r>
          </a:p>
          <a:p>
            <a:pPr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Rent &amp; Loan Agreement Management System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Itemized Scope of Work, Module-by-Module Pricing &amp; Delivery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Prepared for Client  |  Target Delivery: Full Commercial Release  |  Currency: MYR / USD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Web Application Scope &amp; Value Proposition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t>Key System Capabilities</a:t>
            </a:r>
          </a:p>
          <a:p>
            <a:pPr>
              <a:spcBef>
                <a:spcPts val="1200"/>
              </a:spcBef>
              <a:defRPr sz="1400" b="1">
                <a:solidFill>
                  <a:srgbClr val="1E293B"/>
                </a:solidFill>
              </a:defRPr>
            </a:pPr>
            <a:r>
              <a:t>• Automated Legal Generator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Instant creation of loan &amp; tenancy agreements governed by Malaysian Contracts Act 1950.</a:t>
            </a:r>
          </a:p>
          <a:p>
            <a:pPr>
              <a:spcBef>
                <a:spcPts val="1200"/>
              </a:spcBef>
              <a:defRPr sz="1400" b="1">
                <a:solidFill>
                  <a:srgbClr val="1E293B"/>
                </a:solidFill>
              </a:defRPr>
            </a:pPr>
            <a:r>
              <a:t>• Interactive E-Signature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HTML5 canvas signature pad with IP address &amp; timestamp legal audit logging.</a:t>
            </a:r>
          </a:p>
          <a:p>
            <a:pPr>
              <a:spcBef>
                <a:spcPts val="1200"/>
              </a:spcBef>
              <a:defRPr sz="1400" b="1">
                <a:solidFill>
                  <a:srgbClr val="1E293B"/>
                </a:solidFill>
              </a:defRPr>
            </a:pPr>
            <a:r>
              <a:t>• Repayment Ledger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Automatic payment tracking, balance calculations, and receipt transaction history.</a:t>
            </a:r>
          </a:p>
          <a:p>
            <a:pPr>
              <a:spcBef>
                <a:spcPts val="1200"/>
              </a:spcBef>
              <a:defRPr sz="1400" b="1">
                <a:solidFill>
                  <a:srgbClr val="1E293B"/>
                </a:solidFill>
              </a:defRPr>
            </a:pPr>
            <a:r>
              <a:t>• Real-time Notifications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In-app notifications for signature requests, payment reminders, and status updates.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t>Modern Tech Stack</a:t>
            </a:r>
          </a:p>
          <a:p>
            <a:pPr>
              <a:spcBef>
                <a:spcPts val="1200"/>
              </a:spcBef>
              <a:defRPr sz="1400" b="1">
                <a:solidFill>
                  <a:srgbClr val="1E293B"/>
                </a:solidFill>
              </a:defRPr>
            </a:pPr>
            <a:r>
              <a:t>• Frontend Framework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Next.js 16 (App Router) + React 19</a:t>
            </a:r>
          </a:p>
          <a:p>
            <a:pPr>
              <a:spcBef>
                <a:spcPts val="1200"/>
              </a:spcBef>
              <a:defRPr sz="1400" b="1">
                <a:solidFill>
                  <a:srgbClr val="1E293B"/>
                </a:solidFill>
              </a:defRPr>
            </a:pPr>
            <a:r>
              <a:t>• Styling &amp; UI Design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Tailwind CSS v4 + Lucide Icons + PWA Support</a:t>
            </a:r>
          </a:p>
          <a:p>
            <a:pPr>
              <a:spcBef>
                <a:spcPts val="1200"/>
              </a:spcBef>
              <a:defRPr sz="1400" b="1">
                <a:solidFill>
                  <a:srgbClr val="1E293B"/>
                </a:solidFill>
              </a:defRPr>
            </a:pPr>
            <a:r>
              <a:t>• State Management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Zustand Reactive Store</a:t>
            </a:r>
          </a:p>
          <a:p>
            <a:pPr>
              <a:spcBef>
                <a:spcPts val="1200"/>
              </a:spcBef>
              <a:defRPr sz="1400" b="1">
                <a:solidFill>
                  <a:srgbClr val="1E293B"/>
                </a:solidFill>
              </a:defRPr>
            </a:pPr>
            <a:r>
              <a:t>• Backend &amp; Database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Firebase Firestore &amp; Firebase Auth</a:t>
            </a:r>
          </a:p>
          <a:p>
            <a:pPr>
              <a:spcBef>
                <a:spcPts val="1200"/>
              </a:spcBef>
              <a:defRPr sz="1400" b="1">
                <a:solidFill>
                  <a:srgbClr val="1E293B"/>
                </a:solidFill>
              </a:defRPr>
            </a:pPr>
            <a:r>
              <a:t>• Document Engine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Printable Legal Layout &amp; PDF Exporter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QUOTATION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Module-by-Module Cost Breakdown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4114800"/>
                <a:gridCol w="1371600"/>
                <a:gridCol w="1371600"/>
              </a:tblGrid>
              <a:tr h="528320"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Module Name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Core Functionality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Price (MYR)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Price (USD)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Module 1: User &amp; Profile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Dual-role profiles (Lender/Borrower), IC,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RM 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$280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Module 2: Agreement &amp; Contract Generator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Terms calculation, legal clauses, lifecycle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RM 1,800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$550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Module 3: E-Signature &amp; Audit Trail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Canvas pad, Base64 vector, timestamp &amp; IP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RM 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$430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Module 4: Document Viewer &amp; Export System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Printable legal view, PDF engine, signature placement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RM 1,000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$300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Module 5: Repayment Ledger &amp;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Payment logging modal, auto balance calculation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RM 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$340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Module 6: Notification &amp; Alert System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In-app alerts, signature &amp; due date reminders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RM 700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$210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Module 7: Core Architecture &amp; UX Polish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Next.js 16 + Tailwind v4 + Zustand + PWA layout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RM 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$190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GRAND TOTAL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Complete Full-Stack Application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34D399"/>
                          </a:solidFill>
                        </a:defRPr>
                      </a:pPr>
                      <a:r>
                        <a:t>RM 7,500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34D399"/>
                          </a:solidFill>
                        </a:defRPr>
                      </a:pPr>
                      <a:r>
                        <a:t>$2,300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ITEMIZED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Module 1 &amp; Module 2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Module 1: User &amp; Profile Management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Subtotal: RM 900 / $280</a:t>
            </a:r>
          </a:p>
          <a:p>
            <a:pPr>
              <a:spcBef>
                <a:spcPts val="1400"/>
              </a:spcBef>
              <a:defRPr sz="1300" b="1">
                <a:solidFill>
                  <a:srgbClr val="1E293B"/>
                </a:solidFill>
              </a:defRPr>
            </a:pPr>
            <a:r>
              <a:t>• 1.1 Authentication &amp; Security  (RM 450 / $140)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Firebase Auth integration with email/password login, logout, and session persistence.</a:t>
            </a:r>
          </a:p>
          <a:p>
            <a:pPr>
              <a:spcBef>
                <a:spcPts val="1400"/>
              </a:spcBef>
              <a:defRPr sz="1300" b="1">
                <a:solidFill>
                  <a:srgbClr val="1E293B"/>
                </a:solidFill>
              </a:defRPr>
            </a:pPr>
            <a:r>
              <a:t>• 1.2 Dual-Role Profile Engine  (RM 450 / $140)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Comprehensive profile forms for Lender/Landlord &amp; Borrower/Tenant (IC/NRIC, Phone, Address).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Module 2: Agreement &amp; Contract Generator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Subtotal: RM 1,800 / $550</a:t>
            </a:r>
          </a:p>
          <a:p>
            <a:pPr>
              <a:spcBef>
                <a:spcPts val="1000"/>
              </a:spcBef>
              <a:defRPr sz="1200" b="1">
                <a:solidFill>
                  <a:srgbClr val="1E293B"/>
                </a:solidFill>
              </a:defRPr>
            </a:pPr>
            <a:r>
              <a:t>• 2.1 Agreement Form Wizard  (RM 600 / $180)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Dynamic modal wizard for creating tenancy and loan contracts.</a:t>
            </a:r>
          </a:p>
          <a:p>
            <a:pPr>
              <a:spcBef>
                <a:spcPts val="1000"/>
              </a:spcBef>
              <a:defRPr sz="1200" b="1">
                <a:solidFill>
                  <a:srgbClr val="1E293B"/>
                </a:solidFill>
              </a:defRPr>
            </a:pPr>
            <a:r>
              <a:t>• 2.2 Auto Financial Calculator  (RM 550 / $170)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Computes principal, interest rates, installment frequency, and repayment dates.</a:t>
            </a:r>
          </a:p>
          <a:p>
            <a:pPr>
              <a:spcBef>
                <a:spcPts val="1000"/>
              </a:spcBef>
              <a:defRPr sz="1200" b="1">
                <a:solidFill>
                  <a:srgbClr val="1E293B"/>
                </a:solidFill>
              </a:defRPr>
            </a:pPr>
            <a:r>
              <a:t>• 2.3 Legal Clause Generator  (RM 350 / $110)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Governing laws (Contracts Act 1950) &amp; customizable special conditions editor.</a:t>
            </a:r>
          </a:p>
          <a:p>
            <a:pPr>
              <a:spcBef>
                <a:spcPts val="1000"/>
              </a:spcBef>
              <a:defRPr sz="1200" b="1">
                <a:solidFill>
                  <a:srgbClr val="1E293B"/>
                </a:solidFill>
              </a:defRPr>
            </a:pPr>
            <a:r>
              <a:t>• 2.4 Contract Lifecycle Engine  (RM 300 / $90)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Manages state transitions: DRAFT ➔ PENDING ➔ ACTIVE ➔ OVERDUE / COMPLETED.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ITEMIZED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Module 3 &amp; Module 4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Module 3: Digital E-Signature Engine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Subtotal: RM 1,400 / $430</a:t>
            </a:r>
          </a:p>
          <a:p>
            <a:pPr>
              <a:spcBef>
                <a:spcPts val="1000"/>
              </a:spcBef>
              <a:defRPr sz="1200" b="1">
                <a:solidFill>
                  <a:srgbClr val="1E293B"/>
                </a:solidFill>
              </a:defRPr>
            </a:pPr>
            <a:r>
              <a:t>• 3.1 Interactive Signature Pad  (RM 600 / $180)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HTML5 canvas drawing component supporting mouse, touch screens, and clear/redraw.</a:t>
            </a:r>
          </a:p>
          <a:p>
            <a:pPr>
              <a:spcBef>
                <a:spcPts val="1000"/>
              </a:spcBef>
              <a:defRPr sz="1200" b="1">
                <a:solidFill>
                  <a:srgbClr val="1E293B"/>
                </a:solidFill>
              </a:defRPr>
            </a:pPr>
            <a:r>
              <a:t>• 3.2 Vector Image Encoding  (RM 350 / $110)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Converts signatures into secure Base64 data URLs for seamless document rendering.</a:t>
            </a:r>
          </a:p>
          <a:p>
            <a:pPr>
              <a:spcBef>
                <a:spcPts val="1000"/>
              </a:spcBef>
              <a:defRPr sz="1200" b="1">
                <a:solidFill>
                  <a:srgbClr val="1E293B"/>
                </a:solidFill>
              </a:defRPr>
            </a:pPr>
            <a:r>
              <a:t>• 3.3 Legal Audit Trail  (RM 450 / $140)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Logs signer name, email, role, exact timestamp, and IP address for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Module 4: Document Viewer &amp; Export</a:t>
            </a:r>
          </a:p>
          <a:p>
            <a:pPr>
              <a:spcBef>
                <a:spcPts val="400"/>
              </a:spcBef>
              <a:defRPr sz="1200" b="1">
                <a:solidFill>
                  <a:srgbClr val="10B981"/>
                </a:solidFill>
              </a:defRPr>
            </a:pPr>
            <a:r>
              <a:t>Subtotal: RM 1,000 / $300</a:t>
            </a:r>
          </a:p>
          <a:p>
            <a:pPr>
              <a:spcBef>
                <a:spcPts val="1000"/>
              </a:spcBef>
              <a:defRPr sz="1200" b="1">
                <a:solidFill>
                  <a:srgbClr val="1E293B"/>
                </a:solidFill>
              </a:defRPr>
            </a:pPr>
            <a:r>
              <a:t>• 4.1 Styled Document Renderer  (RM 500 / $150)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Formal legal contract viewer styled specifically for screen and print output.</a:t>
            </a:r>
          </a:p>
          <a:p>
            <a:pPr>
              <a:spcBef>
                <a:spcPts val="1000"/>
              </a:spcBef>
              <a:defRPr sz="1200" b="1">
                <a:solidFill>
                  <a:srgbClr val="1E293B"/>
                </a:solidFill>
              </a:defRPr>
            </a:pPr>
            <a:r>
              <a:t>• 4.2 PDF Export Engine  (RM 300 / $90)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Browser-native print &amp; PDF generator formatted for clean page breaks.</a:t>
            </a:r>
          </a:p>
          <a:p>
            <a:pPr>
              <a:spcBef>
                <a:spcPts val="1000"/>
              </a:spcBef>
              <a:defRPr sz="1200" b="1">
                <a:solidFill>
                  <a:srgbClr val="1E293B"/>
                </a:solidFill>
              </a:defRPr>
            </a:pPr>
            <a:r>
              <a:t>• 4.3 Signature Placement  (RM 200 / $60)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Dynamic positioning of dual party signatures onto the legal document footer.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ITEMIZED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Modules 5, 6 &amp; 7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 wrap="square"/>
          <a:lstStyle/>
          <a:p>
            <a:pPr algn="ctr">
              <a:defRPr sz="1500" b="1">
                <a:solidFill>
                  <a:srgbClr val="4F46E5"/>
                </a:solidFill>
              </a:defRPr>
            </a:pPr>
            <a:r>
              <a:t>Module 5: Payment Ledger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RM 1,100 / $340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5.1 Payment Entry Modal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Record payment amount, method, date, reference no., notes.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5.2 Auto Balance Deductor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Auto updates paid vs remaining balance &amp; triggers COMPLETED status.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• 5.3 Payment Ledger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Historical payment transaction log per agreement.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 wrap="square"/>
          <a:lstStyle/>
          <a:p>
            <a:pPr algn="ctr">
              <a:defRPr sz="1500" b="1">
                <a:solidFill>
                  <a:srgbClr val="4F46E5"/>
                </a:solidFill>
              </a:defRPr>
            </a:pPr>
            <a:r>
              <a:t>Module 6: Notifications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RM 700 / $210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6.1 Notification Center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Dropdown bell menu with unread badge counter &amp; mark-as-read controls.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6.2 Event Triggers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Automated alerts for signature requests, due date reminders, and receipts.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 wrap="square"/>
          <a:lstStyle/>
          <a:p>
            <a:pPr algn="ctr">
              <a:defRPr sz="1500" b="1">
                <a:solidFill>
                  <a:srgbClr val="4F46E5"/>
                </a:solidFill>
              </a:defRPr>
            </a:pPr>
            <a:r>
              <a:t>Module 7: Core Architecture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RM 600 / $190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7.1 Dashboard Navigation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Responsive header, navigation menu, and dashboard screens.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7.2 Progressive Web App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PWA web manifest setup for mobile installability.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TERMS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Payment Milestones &amp; Optional Phase 2 Add-ons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Payment Milestone Schedule</a:t>
            </a:r>
          </a:p>
          <a:p>
            <a:pPr>
              <a:spcBef>
                <a:spcPts val="1400"/>
              </a:spcBef>
              <a:defRPr sz="1400" b="1">
                <a:solidFill>
                  <a:srgbClr val="818CF8"/>
                </a:solidFill>
              </a:defRPr>
            </a:pPr>
            <a:r>
              <a:t>• 40% Deposit (RM 3,000 / $920)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Upon signing proposal &amp; initializing project setup.</a:t>
            </a:r>
          </a:p>
          <a:p>
            <a:pPr>
              <a:spcBef>
                <a:spcPts val="1400"/>
              </a:spcBef>
              <a:defRPr sz="1400" b="1">
                <a:solidFill>
                  <a:srgbClr val="818CF8"/>
                </a:solidFill>
              </a:defRPr>
            </a:pPr>
            <a:r>
              <a:t>• 40% Beta Delivery (RM 3,000 / $920)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When core contract builder &amp; e-signature engine are ready.</a:t>
            </a:r>
          </a:p>
          <a:p>
            <a:pPr>
              <a:spcBef>
                <a:spcPts val="1400"/>
              </a:spcBef>
              <a:defRPr sz="1400" b="1">
                <a:solidFill>
                  <a:srgbClr val="818CF8"/>
                </a:solidFill>
              </a:defRPr>
            </a:pPr>
            <a:r>
              <a:t>• 20% Final Handover (RM 1,500 / $460)</a:t>
            </a:r>
          </a:p>
          <a:p>
            <a:pPr>
              <a:spcBef>
                <a:spcPts val="200"/>
              </a:spcBef>
              <a:defRPr sz="1200">
                <a:solidFill>
                  <a:srgbClr val="CBD5E1"/>
                </a:solidFill>
              </a:defRPr>
            </a:pPr>
            <a:r>
              <a:t>Upon full testing, deployment &amp; production launch.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Phase 2 Optional Add-Ons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+ Payment Gateway Integration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Stripe / ToyyibPay / FPX for online rent payments (+ RM 1,500).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+ WhatsApp &amp; SMS Reminder Bot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Automated WhatsApp notifications via Twilio / Wasap API (+ RM 1,200).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+ Multi-language Toggle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English &amp; Bahasa Melayu language switcher (+ RM 800).</a:t>
            </a:r>
          </a:p>
          <a:p>
            <a:pPr>
              <a:spcBef>
                <a:spcPts val="1000"/>
              </a:spcBef>
              <a:defRPr sz="1300" b="1">
                <a:solidFill>
                  <a:srgbClr val="34D399"/>
                </a:solidFill>
              </a:defRPr>
            </a:pPr>
            <a:r>
              <a:t>+ Monthly Maintenance Retainer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Hosting, updates &amp; bug fixes (RM 300 - RM 500 / month).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